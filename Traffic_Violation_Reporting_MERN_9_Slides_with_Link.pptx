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2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citation-central-app.lovable.app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6778"/>
            <a:ext cx="12191695" cy="6858000"/>
          </a:xfrm>
          <a:prstGeom prst="rect">
            <a:avLst/>
          </a:prstGeom>
          <a:solidFill>
            <a:srgbClr val="10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686800" y="0"/>
            <a:ext cx="3502152" cy="6858000"/>
          </a:xfrm>
          <a:prstGeom prst="roundRect">
            <a:avLst/>
          </a:prstGeom>
          <a:solidFill>
            <a:srgbClr val="1E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287000" y="548640"/>
            <a:ext cx="109728" cy="658368"/>
          </a:xfrm>
          <a:prstGeom prst="rect">
            <a:avLst/>
          </a:prstGeom>
          <a:solidFill>
            <a:srgbClr val="FFB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287000" y="1828800"/>
            <a:ext cx="109728" cy="658368"/>
          </a:xfrm>
          <a:prstGeom prst="rect">
            <a:avLst/>
          </a:prstGeom>
          <a:solidFill>
            <a:srgbClr val="FFB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287000" y="3108960"/>
            <a:ext cx="109728" cy="658368"/>
          </a:xfrm>
          <a:prstGeom prst="rect">
            <a:avLst/>
          </a:prstGeom>
          <a:solidFill>
            <a:srgbClr val="FFB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287000" y="4389120"/>
            <a:ext cx="109728" cy="658368"/>
          </a:xfrm>
          <a:prstGeom prst="rect">
            <a:avLst/>
          </a:prstGeom>
          <a:solidFill>
            <a:srgbClr val="FFB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287000" y="5669280"/>
            <a:ext cx="109728" cy="658368"/>
          </a:xfrm>
          <a:prstGeom prst="rect">
            <a:avLst/>
          </a:prstGeom>
          <a:solidFill>
            <a:srgbClr val="FFB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555480" y="2011680"/>
            <a:ext cx="1417320" cy="1417320"/>
          </a:xfrm>
          <a:prstGeom prst="ellipse">
            <a:avLst/>
          </a:prstGeom>
          <a:solidFill>
            <a:srgbClr val="28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38360" y="2304288"/>
            <a:ext cx="1051560" cy="6858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defRPr sz="4200" b="1">
                <a:solidFill>
                  <a:srgbClr val="101F36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960120"/>
            <a:ext cx="722376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500" b="1">
                <a:solidFill>
                  <a:srgbClr val="28CDBE"/>
                </a:solidFill>
                <a:latin typeface="Aptos"/>
              </a:defRPr>
            </a:pPr>
            <a:r>
              <a:t>MERN STACK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691640"/>
            <a:ext cx="7498079" cy="1508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3400" b="1">
                <a:solidFill>
                  <a:srgbClr val="F6F9FC"/>
                </a:solidFill>
                <a:latin typeface="Aptos"/>
              </a:defRPr>
            </a:pPr>
            <a:r>
              <a:t>TRAFFIC VIOLATION</a:t>
            </a:r>
            <a:br/>
            <a:r>
              <a:t>REPORTING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03320"/>
            <a:ext cx="6858000" cy="7772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900" b="0">
                <a:solidFill>
                  <a:srgbClr val="BBCADB"/>
                </a:solidFill>
                <a:latin typeface="Aptos"/>
              </a:defRPr>
            </a:pPr>
            <a:r>
              <a:rPr dirty="0"/>
              <a:t>A web application to report, record, and manage traffic violations with supporting evidence.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074920"/>
            <a:ext cx="6217920" cy="960263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500" b="0">
                <a:solidFill>
                  <a:srgbClr val="F6F9FC"/>
                </a:solidFill>
                <a:latin typeface="Aptos"/>
              </a:defRPr>
            </a:pPr>
            <a:r>
              <a:rPr dirty="0"/>
              <a:t>Presented by: </a:t>
            </a:r>
            <a:r>
              <a:rPr lang="en-US" dirty="0"/>
              <a:t>25MVCSER0518</a:t>
            </a:r>
          </a:p>
          <a:p>
            <a:pPr>
              <a:defRPr sz="1500" b="0">
                <a:solidFill>
                  <a:srgbClr val="F6F9FC"/>
                </a:solidFill>
                <a:latin typeface="Aptos"/>
              </a:defRPr>
            </a:pPr>
            <a:r>
              <a:rPr lang="en-US" dirty="0"/>
              <a:t>                               25MVCSER0517</a:t>
            </a:r>
          </a:p>
          <a:p>
            <a:pPr>
              <a:defRPr sz="1500" b="0">
                <a:solidFill>
                  <a:srgbClr val="F6F9FC"/>
                </a:solidFill>
                <a:latin typeface="Aptos"/>
              </a:defRPr>
            </a:pPr>
            <a:r>
              <a:rPr lang="en-US" dirty="0"/>
              <a:t>                               25MVCSER0460</a:t>
            </a:r>
          </a:p>
          <a:p>
            <a:pPr>
              <a:defRPr sz="1500" b="0">
                <a:solidFill>
                  <a:srgbClr val="F6F9FC"/>
                </a:solidFill>
                <a:latin typeface="Aptos"/>
              </a:defRPr>
            </a:pPr>
            <a:r>
              <a:rPr lang="en-US" dirty="0"/>
              <a:t>                              25MVCSER0477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777240" y="6133060"/>
            <a:ext cx="6217920" cy="25237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400" b="0">
                <a:solidFill>
                  <a:srgbClr val="BBCADB"/>
                </a:solidFill>
                <a:latin typeface="Aptos"/>
              </a:defRPr>
            </a:pPr>
            <a:r>
              <a:rPr dirty="0"/>
              <a:t>Class / Section:</a:t>
            </a:r>
            <a:r>
              <a:rPr lang="en-US" dirty="0"/>
              <a:t> CSE-F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777240" y="6446520"/>
            <a:ext cx="54864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900" b="0">
                <a:solidFill>
                  <a:srgbClr val="BBCADB"/>
                </a:solidFill>
                <a:latin typeface="Aptos"/>
              </a:defRPr>
            </a:pPr>
            <a:r>
              <a:t>PROJECT PRESENTATION  •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4524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2700" b="1">
                <a:solidFill>
                  <a:srgbClr val="F6F9FC"/>
                </a:solidFill>
                <a:latin typeface="Aptos"/>
              </a:defRPr>
            </a:pPr>
            <a:r>
              <a:rPr u="sng"/>
              <a:t>1. 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932688"/>
            <a:ext cx="960120" cy="50292"/>
          </a:xfrm>
          <a:prstGeom prst="rect">
            <a:avLst/>
          </a:prstGeom>
          <a:solidFill>
            <a:srgbClr val="28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4572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defRPr sz="1200" b="1">
                <a:solidFill>
                  <a:srgbClr val="FFBE4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86868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900" b="0">
                <a:solidFill>
                  <a:srgbClr val="BBCADB"/>
                </a:solidFill>
                <a:latin typeface="Aptos"/>
              </a:defRPr>
            </a:pPr>
            <a:r>
              <a:t>TRAFFIC VIOLATION REPORTING SYSTEM  •  MERN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80160"/>
            <a:ext cx="10698480" cy="8229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2300" b="1">
                <a:solidFill>
                  <a:srgbClr val="F6F9FC"/>
                </a:solidFill>
                <a:latin typeface="Aptos"/>
              </a:defRPr>
            </a:pPr>
            <a:r>
              <a:t>Traffic violations can be difficult to report and track when information is scattered or incomplete.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468880"/>
            <a:ext cx="3383280" cy="2331720"/>
          </a:xfrm>
          <a:prstGeom prst="roundRect">
            <a:avLst/>
          </a:prstGeom>
          <a:solidFill>
            <a:srgbClr val="192F4C"/>
          </a:solidFill>
          <a:ln>
            <a:solidFill>
              <a:srgbClr val="32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2468880"/>
            <a:ext cx="64008" cy="2331720"/>
          </a:xfrm>
          <a:prstGeom prst="rect">
            <a:avLst/>
          </a:prstGeom>
          <a:solidFill>
            <a:srgbClr val="FFB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8" y="2633472"/>
            <a:ext cx="2999232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800" b="1">
                <a:solidFill>
                  <a:srgbClr val="FFBE4B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3127248"/>
            <a:ext cx="2999232" cy="155447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400" b="0">
                <a:solidFill>
                  <a:srgbClr val="F6F9FC"/>
                </a:solidFill>
                <a:latin typeface="Aptos"/>
              </a:defRPr>
            </a:pPr>
            <a:r>
              <a:t>Reports may lack clear details such as vehicle number, location, date, or photo evidence.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468880"/>
            <a:ext cx="3383280" cy="2331720"/>
          </a:xfrm>
          <a:prstGeom prst="roundRect">
            <a:avLst/>
          </a:prstGeom>
          <a:solidFill>
            <a:srgbClr val="192F4C"/>
          </a:solidFill>
          <a:ln>
            <a:solidFill>
              <a:srgbClr val="32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2468880"/>
            <a:ext cx="64008" cy="2331720"/>
          </a:xfrm>
          <a:prstGeom prst="rect">
            <a:avLst/>
          </a:prstGeom>
          <a:solidFill>
            <a:srgbClr val="28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2633472"/>
            <a:ext cx="2999232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800" b="1">
                <a:solidFill>
                  <a:srgbClr val="28CDBE"/>
                </a:solidFill>
                <a:latin typeface="Aptos"/>
              </a:defRPr>
            </a:pPr>
            <a:r>
              <a:t>THE NEED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3127248"/>
            <a:ext cx="2999232" cy="155447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400" b="0">
                <a:solidFill>
                  <a:srgbClr val="F6F9FC"/>
                </a:solidFill>
                <a:latin typeface="Aptos"/>
              </a:defRPr>
            </a:pPr>
            <a:r>
              <a:t>A central digital system can organize reports and make records easier to review.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2468880"/>
            <a:ext cx="3383280" cy="2331720"/>
          </a:xfrm>
          <a:prstGeom prst="roundRect">
            <a:avLst/>
          </a:prstGeom>
          <a:solidFill>
            <a:srgbClr val="192F4C"/>
          </a:solidFill>
          <a:ln>
            <a:solidFill>
              <a:srgbClr val="32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01000" y="2468880"/>
            <a:ext cx="64008" cy="2331720"/>
          </a:xfrm>
          <a:prstGeom prst="rect">
            <a:avLst/>
          </a:prstGeom>
          <a:solidFill>
            <a:srgbClr val="61D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02168" y="2633472"/>
            <a:ext cx="2999232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800" b="1">
                <a:solidFill>
                  <a:srgbClr val="61DCAC"/>
                </a:solidFill>
                <a:latin typeface="Aptos"/>
              </a:defRPr>
            </a:pPr>
            <a:r>
              <a:t>OUR SOLUTION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8" y="3127248"/>
            <a:ext cx="2999232" cy="155447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400" b="0">
                <a:solidFill>
                  <a:srgbClr val="F6F9FC"/>
                </a:solidFill>
                <a:latin typeface="Aptos"/>
              </a:defRPr>
            </a:pPr>
            <a:r>
              <a:t>Build a MERN web app where users submit reports and authorized staff manage them.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257800"/>
            <a:ext cx="10515600" cy="5486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2100" b="1">
                <a:solidFill>
                  <a:srgbClr val="FFBE4B"/>
                </a:solidFill>
                <a:latin typeface="Aptos"/>
              </a:defRPr>
            </a:pPr>
            <a:r>
              <a:rPr dirty="0"/>
              <a:t>Goal: make reporting more organized, searchable, and transparent.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2700" b="1">
                <a:solidFill>
                  <a:srgbClr val="F6F9FC"/>
                </a:solidFill>
                <a:latin typeface="Aptos"/>
              </a:defRPr>
            </a:pPr>
            <a:r>
              <a:t>2. 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932688"/>
            <a:ext cx="960120" cy="50292"/>
          </a:xfrm>
          <a:prstGeom prst="rect">
            <a:avLst/>
          </a:prstGeom>
          <a:solidFill>
            <a:srgbClr val="28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4572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defRPr sz="1200" b="1">
                <a:solidFill>
                  <a:srgbClr val="FFBE4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86868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900" b="0">
                <a:solidFill>
                  <a:srgbClr val="BBCADB"/>
                </a:solidFill>
                <a:latin typeface="Aptos"/>
              </a:defRPr>
            </a:pPr>
            <a:r>
              <a:t>TRAFFIC VIOLATION REPORTING SYSTEM  •  MERN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515600" cy="4800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6F9FC"/>
                </a:solidFill>
                <a:latin typeface="Aptos"/>
              </a:defRPr>
            </a:pPr>
            <a:r>
              <a:t>•  Demonstrate full-stack development using MongoDB, Express.js, React.js, and Node.js.</a:t>
            </a:r>
          </a:p>
          <a:p>
            <a:pPr>
              <a:spcAft>
                <a:spcPts val="1400"/>
              </a:spcAft>
              <a:defRPr sz="2000">
                <a:solidFill>
                  <a:srgbClr val="F6F9FC"/>
                </a:solidFill>
                <a:latin typeface="Aptos"/>
              </a:defRPr>
            </a:pPr>
            <a:r>
              <a:t>•  Create, view, update, and manage traffic-violation records (CRUD operations).</a:t>
            </a:r>
          </a:p>
          <a:p>
            <a:pPr>
              <a:spcAft>
                <a:spcPts val="1400"/>
              </a:spcAft>
              <a:defRPr sz="2000">
                <a:solidFill>
                  <a:srgbClr val="F6F9FC"/>
                </a:solidFill>
                <a:latin typeface="Aptos"/>
              </a:defRPr>
            </a:pPr>
            <a:r>
              <a:t>•  Build REST APIs to connect the React interface with the backend.</a:t>
            </a:r>
          </a:p>
          <a:p>
            <a:pPr>
              <a:spcAft>
                <a:spcPts val="1400"/>
              </a:spcAft>
              <a:defRPr sz="2000">
                <a:solidFill>
                  <a:srgbClr val="F6F9FC"/>
                </a:solidFill>
                <a:latin typeface="Aptos"/>
              </a:defRPr>
            </a:pPr>
            <a:r>
              <a:t>•  Store important report details and evidence-image references in MongoDB.</a:t>
            </a:r>
          </a:p>
          <a:p>
            <a:pPr>
              <a:spcAft>
                <a:spcPts val="1400"/>
              </a:spcAft>
              <a:defRPr sz="2000">
                <a:solidFill>
                  <a:srgbClr val="F6F9FC"/>
                </a:solidFill>
                <a:latin typeface="Aptos"/>
              </a:defRPr>
            </a:pPr>
            <a:r>
              <a:t>•  Add authentication and role-based access for reporters and administrators.</a:t>
            </a:r>
          </a:p>
          <a:p>
            <a:pPr>
              <a:spcAft>
                <a:spcPts val="1400"/>
              </a:spcAft>
              <a:defRPr sz="2000">
                <a:solidFill>
                  <a:srgbClr val="F6F9FC"/>
                </a:solidFill>
                <a:latin typeface="Aptos"/>
              </a:defRPr>
            </a:pPr>
            <a:r>
              <a:t>•  Present report status and project information clearly in a simple interface.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2700" b="1">
                <a:solidFill>
                  <a:srgbClr val="F6F9FC"/>
                </a:solidFill>
                <a:latin typeface="Aptos"/>
              </a:defRPr>
            </a:pPr>
            <a:r>
              <a:t>3. How the System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932688"/>
            <a:ext cx="960120" cy="50292"/>
          </a:xfrm>
          <a:prstGeom prst="rect">
            <a:avLst/>
          </a:prstGeom>
          <a:solidFill>
            <a:srgbClr val="28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4572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defRPr sz="1200" b="1">
                <a:solidFill>
                  <a:srgbClr val="FFBE4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86868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900" b="0">
                <a:solidFill>
                  <a:srgbClr val="BBCADB"/>
                </a:solidFill>
                <a:latin typeface="Aptos"/>
              </a:defRPr>
            </a:pPr>
            <a:r>
              <a:t>TRAFFIC VIOLATION REPORTING SYSTEM  •  MERN STACK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2560320" cy="2560320"/>
          </a:xfrm>
          <a:prstGeom prst="roundRect">
            <a:avLst/>
          </a:prstGeom>
          <a:solidFill>
            <a:srgbClr val="192F4C"/>
          </a:solidFill>
          <a:ln>
            <a:solidFill>
              <a:srgbClr val="32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64008" cy="2560320"/>
          </a:xfrm>
          <a:prstGeom prst="rect">
            <a:avLst/>
          </a:prstGeom>
          <a:solidFill>
            <a:srgbClr val="28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993392"/>
            <a:ext cx="2176272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800" b="1">
                <a:solidFill>
                  <a:srgbClr val="28CDBE"/>
                </a:solidFill>
                <a:latin typeface="Aptos"/>
              </a:defRPr>
            </a:pPr>
            <a:r>
              <a:t>01 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487168"/>
            <a:ext cx="2176272" cy="178307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400" b="0">
                <a:solidFill>
                  <a:srgbClr val="F6F9FC"/>
                </a:solidFill>
                <a:latin typeface="Aptos"/>
              </a:defRPr>
            </a:pPr>
            <a:r>
              <a:t>User enters vehicle, violation, date, location and image.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64408" y="2834640"/>
            <a:ext cx="32004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defRPr sz="2400" b="1">
                <a:solidFill>
                  <a:srgbClr val="FFBE4B"/>
                </a:solidFill>
                <a:latin typeface="Aptos"/>
              </a:defRPr>
            </a:pPr>
            <a:r>
              <a:t>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1828800"/>
            <a:ext cx="2560320" cy="2560320"/>
          </a:xfrm>
          <a:prstGeom prst="roundRect">
            <a:avLst/>
          </a:prstGeom>
          <a:solidFill>
            <a:srgbClr val="192F4C"/>
          </a:solidFill>
          <a:ln>
            <a:solidFill>
              <a:srgbClr val="32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66160" y="1828800"/>
            <a:ext cx="64008" cy="2560320"/>
          </a:xfrm>
          <a:prstGeom prst="rect">
            <a:avLst/>
          </a:prstGeom>
          <a:solidFill>
            <a:srgbClr val="FFB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67328" y="1993392"/>
            <a:ext cx="2176272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800" b="1">
                <a:solidFill>
                  <a:srgbClr val="FFBE4B"/>
                </a:solidFill>
                <a:latin typeface="Aptos"/>
              </a:defRPr>
            </a:pPr>
            <a:r>
              <a:t>02  Submit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7328" y="2487168"/>
            <a:ext cx="2176272" cy="178307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400" b="0">
                <a:solidFill>
                  <a:srgbClr val="F6F9FC"/>
                </a:solidFill>
                <a:latin typeface="Aptos"/>
              </a:defRPr>
            </a:pPr>
            <a:r>
              <a:t>React sends the report to an Express REST API.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4768" y="2834640"/>
            <a:ext cx="32004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defRPr sz="2400" b="1">
                <a:solidFill>
                  <a:srgbClr val="FFBE4B"/>
                </a:solidFill>
                <a:latin typeface="Aptos"/>
              </a:defRPr>
            </a:pPr>
            <a:r>
              <a:t>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1828800"/>
            <a:ext cx="2560320" cy="2560320"/>
          </a:xfrm>
          <a:prstGeom prst="roundRect">
            <a:avLst/>
          </a:prstGeom>
          <a:solidFill>
            <a:srgbClr val="192F4C"/>
          </a:solidFill>
          <a:ln>
            <a:solidFill>
              <a:srgbClr val="32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46520" y="1828800"/>
            <a:ext cx="64008" cy="2560320"/>
          </a:xfrm>
          <a:prstGeom prst="rect">
            <a:avLst/>
          </a:prstGeom>
          <a:solidFill>
            <a:srgbClr val="61D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47688" y="1993392"/>
            <a:ext cx="2176272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800" b="1">
                <a:solidFill>
                  <a:srgbClr val="61DCAC"/>
                </a:solidFill>
                <a:latin typeface="Aptos"/>
              </a:defRPr>
            </a:pPr>
            <a:r>
              <a:t>03  Store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7688" y="2487168"/>
            <a:ext cx="2176272" cy="178307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400" b="0">
                <a:solidFill>
                  <a:srgbClr val="F6F9FC"/>
                </a:solidFill>
                <a:latin typeface="Aptos"/>
              </a:defRPr>
            </a:pPr>
            <a:r>
              <a:t>Node.js validates data and saves the record in MongoDB.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25128" y="2834640"/>
            <a:ext cx="32004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defRPr sz="2400" b="1">
                <a:solidFill>
                  <a:srgbClr val="FFBE4B"/>
                </a:solidFill>
                <a:latin typeface="Aptos"/>
              </a:defRPr>
            </a:pPr>
            <a:r>
              <a:t>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26880" y="1828800"/>
            <a:ext cx="2560320" cy="2560320"/>
          </a:xfrm>
          <a:prstGeom prst="roundRect">
            <a:avLst/>
          </a:prstGeom>
          <a:solidFill>
            <a:srgbClr val="192F4C"/>
          </a:solidFill>
          <a:ln>
            <a:solidFill>
              <a:srgbClr val="32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326880" y="1828800"/>
            <a:ext cx="64008" cy="2560320"/>
          </a:xfrm>
          <a:prstGeom prst="rect">
            <a:avLst/>
          </a:prstGeom>
          <a:solidFill>
            <a:srgbClr val="28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528048" y="1993392"/>
            <a:ext cx="2176272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800" b="1">
                <a:solidFill>
                  <a:srgbClr val="28CDBE"/>
                </a:solidFill>
                <a:latin typeface="Aptos"/>
              </a:defRPr>
            </a:pPr>
            <a:r>
              <a:t>04  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8048" y="2487168"/>
            <a:ext cx="2176272" cy="178307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400" b="0">
                <a:solidFill>
                  <a:srgbClr val="F6F9FC"/>
                </a:solidFill>
                <a:latin typeface="Aptos"/>
              </a:defRPr>
            </a:pPr>
            <a:r>
              <a:t>Authorized staff view the report and update its status.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074920"/>
            <a:ext cx="10241280" cy="6400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900" b="0">
                <a:solidFill>
                  <a:srgbClr val="BBCADB"/>
                </a:solidFill>
                <a:latin typeface="Aptos"/>
              </a:defRPr>
            </a:pPr>
            <a:r>
              <a:t>Example: a user reports a vehicle parked in a no-parking zone and attaches a photo.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2700" b="1">
                <a:solidFill>
                  <a:srgbClr val="F6F9FC"/>
                </a:solidFill>
                <a:latin typeface="Aptos"/>
              </a:defRPr>
            </a:pPr>
            <a:r>
              <a:t>4. Data Stored in MongoDB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932688"/>
            <a:ext cx="960120" cy="50292"/>
          </a:xfrm>
          <a:prstGeom prst="rect">
            <a:avLst/>
          </a:prstGeom>
          <a:solidFill>
            <a:srgbClr val="28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4572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defRPr sz="1200" b="1">
                <a:solidFill>
                  <a:srgbClr val="FFBE4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86868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900" b="0">
                <a:solidFill>
                  <a:srgbClr val="BBCADB"/>
                </a:solidFill>
                <a:latin typeface="Aptos"/>
              </a:defRPr>
            </a:pPr>
            <a:r>
              <a:t>TRAFFIC VIOLATION REPORTING SYSTEM  •  MERN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1078992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900" b="0">
                <a:solidFill>
                  <a:srgbClr val="F6F9FC"/>
                </a:solidFill>
                <a:latin typeface="Aptos"/>
              </a:defRPr>
            </a:pPr>
            <a:r>
              <a:t>Each report can be stored as one document in a collection called `violations`.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65960"/>
            <a:ext cx="3337560" cy="1188720"/>
          </a:xfrm>
          <a:prstGeom prst="roundRect">
            <a:avLst/>
          </a:prstGeom>
          <a:solidFill>
            <a:srgbClr val="192F4C"/>
          </a:solidFill>
          <a:ln>
            <a:solidFill>
              <a:srgbClr val="32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1965960"/>
            <a:ext cx="64008" cy="1188720"/>
          </a:xfrm>
          <a:prstGeom prst="rect">
            <a:avLst/>
          </a:prstGeom>
          <a:solidFill>
            <a:srgbClr val="28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8" y="2130552"/>
            <a:ext cx="2953512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800" b="1">
                <a:solidFill>
                  <a:srgbClr val="28CDBE"/>
                </a:solidFill>
                <a:latin typeface="Aptos"/>
              </a:defRPr>
            </a:pPr>
            <a:r>
              <a:t>vehicleNumber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624328"/>
            <a:ext cx="2953512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400" b="0">
                <a:solidFill>
                  <a:srgbClr val="F6F9FC"/>
                </a:solidFill>
                <a:latin typeface="Aptos"/>
              </a:defRPr>
            </a:pPr>
            <a:r>
              <a:t>e.g., TS09AB1234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965960"/>
            <a:ext cx="3337560" cy="1188720"/>
          </a:xfrm>
          <a:prstGeom prst="roundRect">
            <a:avLst/>
          </a:prstGeom>
          <a:solidFill>
            <a:srgbClr val="192F4C"/>
          </a:solidFill>
          <a:ln>
            <a:solidFill>
              <a:srgbClr val="32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80559" y="1965960"/>
            <a:ext cx="64008" cy="1188720"/>
          </a:xfrm>
          <a:prstGeom prst="rect">
            <a:avLst/>
          </a:prstGeom>
          <a:solidFill>
            <a:srgbClr val="FFB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81727" y="2130552"/>
            <a:ext cx="2953512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800" b="1">
                <a:solidFill>
                  <a:srgbClr val="FFBE4B"/>
                </a:solidFill>
                <a:latin typeface="Aptos"/>
              </a:defRPr>
            </a:pPr>
            <a:r>
              <a:t>violationType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7" y="2624328"/>
            <a:ext cx="2953512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400" b="0">
                <a:solidFill>
                  <a:srgbClr val="F6F9FC"/>
                </a:solidFill>
                <a:latin typeface="Aptos"/>
              </a:defRPr>
            </a:pPr>
            <a:r>
              <a:t>e.g., red-light jump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965960"/>
            <a:ext cx="3337560" cy="1188720"/>
          </a:xfrm>
          <a:prstGeom prst="roundRect">
            <a:avLst/>
          </a:prstGeom>
          <a:solidFill>
            <a:srgbClr val="192F4C"/>
          </a:solidFill>
          <a:ln>
            <a:solidFill>
              <a:srgbClr val="32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83879" y="1965960"/>
            <a:ext cx="64008" cy="1188720"/>
          </a:xfrm>
          <a:prstGeom prst="rect">
            <a:avLst/>
          </a:prstGeom>
          <a:solidFill>
            <a:srgbClr val="61D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85048" y="2130552"/>
            <a:ext cx="2953512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800" b="1">
                <a:solidFill>
                  <a:srgbClr val="61DCAC"/>
                </a:solidFill>
                <a:latin typeface="Aptos"/>
              </a:defRPr>
            </a:pPr>
            <a:r>
              <a:t>location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2624328"/>
            <a:ext cx="2953512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400" b="0">
                <a:solidFill>
                  <a:srgbClr val="F6F9FC"/>
                </a:solidFill>
                <a:latin typeface="Aptos"/>
              </a:defRPr>
            </a:pPr>
            <a:r>
              <a:t>street / area / coordinates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474720"/>
            <a:ext cx="3337560" cy="1188720"/>
          </a:xfrm>
          <a:prstGeom prst="roundRect">
            <a:avLst/>
          </a:prstGeom>
          <a:solidFill>
            <a:srgbClr val="192F4C"/>
          </a:solidFill>
          <a:ln>
            <a:solidFill>
              <a:srgbClr val="32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77240" y="3474720"/>
            <a:ext cx="64008" cy="1188720"/>
          </a:xfrm>
          <a:prstGeom prst="rect">
            <a:avLst/>
          </a:prstGeom>
          <a:solidFill>
            <a:srgbClr val="FFB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78408" y="3639312"/>
            <a:ext cx="2953512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800" b="1">
                <a:solidFill>
                  <a:srgbClr val="FFBE4B"/>
                </a:solidFill>
                <a:latin typeface="Aptos"/>
              </a:defRPr>
            </a:pPr>
            <a:r>
              <a:t>dateTime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" y="4133087"/>
            <a:ext cx="2953512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400" b="0">
                <a:solidFill>
                  <a:srgbClr val="F6F9FC"/>
                </a:solidFill>
                <a:latin typeface="Aptos"/>
              </a:defRPr>
            </a:pPr>
            <a:r>
              <a:t>when it happened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59" y="3474720"/>
            <a:ext cx="3337560" cy="1188720"/>
          </a:xfrm>
          <a:prstGeom prst="roundRect">
            <a:avLst/>
          </a:prstGeom>
          <a:solidFill>
            <a:srgbClr val="192F4C"/>
          </a:solidFill>
          <a:ln>
            <a:solidFill>
              <a:srgbClr val="32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480559" y="3474720"/>
            <a:ext cx="64008" cy="1188720"/>
          </a:xfrm>
          <a:prstGeom prst="rect">
            <a:avLst/>
          </a:prstGeom>
          <a:solidFill>
            <a:srgbClr val="28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81727" y="3639312"/>
            <a:ext cx="2953512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800" b="1">
                <a:solidFill>
                  <a:srgbClr val="28CDBE"/>
                </a:solidFill>
                <a:latin typeface="Aptos"/>
              </a:defRPr>
            </a:pPr>
            <a:r>
              <a:t>imageUrl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81727" y="4133087"/>
            <a:ext cx="2953512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400" b="0">
                <a:solidFill>
                  <a:srgbClr val="F6F9FC"/>
                </a:solidFill>
                <a:latin typeface="Aptos"/>
              </a:defRPr>
            </a:pPr>
            <a:r>
              <a:t>evidence image reference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79" y="3474720"/>
            <a:ext cx="3337560" cy="1188720"/>
          </a:xfrm>
          <a:prstGeom prst="roundRect">
            <a:avLst/>
          </a:prstGeom>
          <a:solidFill>
            <a:srgbClr val="192F4C"/>
          </a:solidFill>
          <a:ln>
            <a:solidFill>
              <a:srgbClr val="32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183879" y="3474720"/>
            <a:ext cx="64008" cy="1188720"/>
          </a:xfrm>
          <a:prstGeom prst="rect">
            <a:avLst/>
          </a:prstGeom>
          <a:solidFill>
            <a:srgbClr val="61D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85048" y="3639312"/>
            <a:ext cx="2953512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800" b="1">
                <a:solidFill>
                  <a:srgbClr val="61DCAC"/>
                </a:solidFill>
                <a:latin typeface="Aptos"/>
              </a:defRPr>
            </a:pPr>
            <a:r>
              <a:t>status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5048" y="4133087"/>
            <a:ext cx="2953512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400" b="0">
                <a:solidFill>
                  <a:srgbClr val="F6F9FC"/>
                </a:solidFill>
                <a:latin typeface="Aptos"/>
              </a:defRPr>
            </a:pPr>
            <a:r>
              <a:t>Pending / Reviewed / Closed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440680"/>
            <a:ext cx="10515600" cy="5943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600" b="0">
                <a:solidFill>
                  <a:srgbClr val="BBCADB"/>
                </a:solidFill>
                <a:latin typeface="Aptos"/>
              </a:defRPr>
            </a:pPr>
            <a:r>
              <a:t>MongoDB stores structured report details; image files are commonly stored in file/object storage, with the image URL saved in the database.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2700" b="1">
                <a:solidFill>
                  <a:srgbClr val="F6F9FC"/>
                </a:solidFill>
                <a:latin typeface="Aptos"/>
              </a:defRPr>
            </a:pPr>
            <a:r>
              <a:t>5. MERN Stack Technology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932688"/>
            <a:ext cx="960120" cy="50292"/>
          </a:xfrm>
          <a:prstGeom prst="rect">
            <a:avLst/>
          </a:prstGeom>
          <a:solidFill>
            <a:srgbClr val="28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4572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defRPr sz="1200" b="1">
                <a:solidFill>
                  <a:srgbClr val="FFBE4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86868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900" b="0">
                <a:solidFill>
                  <a:srgbClr val="BBCADB"/>
                </a:solidFill>
                <a:latin typeface="Aptos"/>
              </a:defRPr>
            </a:pPr>
            <a:r>
              <a:t>TRAFFIC VIOLATION REPORTING SYSTEM  •  MERN STACK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166360" cy="1645920"/>
          </a:xfrm>
          <a:prstGeom prst="roundRect">
            <a:avLst/>
          </a:prstGeom>
          <a:solidFill>
            <a:srgbClr val="192F4C"/>
          </a:solidFill>
          <a:ln>
            <a:solidFill>
              <a:srgbClr val="32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64008" cy="1645920"/>
          </a:xfrm>
          <a:prstGeom prst="rect">
            <a:avLst/>
          </a:prstGeom>
          <a:solidFill>
            <a:srgbClr val="61D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581912"/>
            <a:ext cx="4782312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800" b="1">
                <a:solidFill>
                  <a:srgbClr val="61DCAC"/>
                </a:solidFill>
                <a:latin typeface="Aptos"/>
              </a:defRPr>
            </a:pPr>
            <a:r>
              <a:t>M  |  MongoDB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75688"/>
            <a:ext cx="4782312" cy="8686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400" b="0">
                <a:solidFill>
                  <a:srgbClr val="F6F9FC"/>
                </a:solidFill>
                <a:latin typeface="Aptos"/>
              </a:defRPr>
            </a:pPr>
            <a:r>
              <a:t>Database for violation reports and user records.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1417320"/>
            <a:ext cx="5166360" cy="1645920"/>
          </a:xfrm>
          <a:prstGeom prst="roundRect">
            <a:avLst/>
          </a:prstGeom>
          <a:solidFill>
            <a:srgbClr val="192F4C"/>
          </a:solidFill>
          <a:ln>
            <a:solidFill>
              <a:srgbClr val="32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59" y="1417320"/>
            <a:ext cx="64008" cy="1645920"/>
          </a:xfrm>
          <a:prstGeom prst="rect">
            <a:avLst/>
          </a:prstGeom>
          <a:solidFill>
            <a:srgbClr val="FFB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0527" y="1581912"/>
            <a:ext cx="4782312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800" b="1">
                <a:solidFill>
                  <a:srgbClr val="FFBE4B"/>
                </a:solidFill>
                <a:latin typeface="Aptos"/>
              </a:defRPr>
            </a:pPr>
            <a:r>
              <a:t>E  |  Express.js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7" y="2075688"/>
            <a:ext cx="4782312" cy="8686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400" b="0">
                <a:solidFill>
                  <a:srgbClr val="F6F9FC"/>
                </a:solidFill>
                <a:latin typeface="Aptos"/>
              </a:defRPr>
            </a:pPr>
            <a:r>
              <a:t>Backend framework for API routes and request handling.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566160"/>
            <a:ext cx="5166360" cy="1645920"/>
          </a:xfrm>
          <a:prstGeom prst="roundRect">
            <a:avLst/>
          </a:prstGeom>
          <a:solidFill>
            <a:srgbClr val="192F4C"/>
          </a:solidFill>
          <a:ln>
            <a:solidFill>
              <a:srgbClr val="32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3566160"/>
            <a:ext cx="64008" cy="1645920"/>
          </a:xfrm>
          <a:prstGeom prst="rect">
            <a:avLst/>
          </a:prstGeom>
          <a:solidFill>
            <a:srgbClr val="28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3730752"/>
            <a:ext cx="4782312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800" b="1">
                <a:solidFill>
                  <a:srgbClr val="28CDBE"/>
                </a:solidFill>
                <a:latin typeface="Aptos"/>
              </a:defRPr>
            </a:pPr>
            <a:r>
              <a:t>R  |  React.js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4224528"/>
            <a:ext cx="4782312" cy="8686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400" b="0">
                <a:solidFill>
                  <a:srgbClr val="F6F9FC"/>
                </a:solidFill>
                <a:latin typeface="Aptos"/>
              </a:defRPr>
            </a:pPr>
            <a:r>
              <a:t>Frontend for forms, report lists, filters, and dashboards.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3566160"/>
            <a:ext cx="5166360" cy="1645920"/>
          </a:xfrm>
          <a:prstGeom prst="roundRect">
            <a:avLst/>
          </a:prstGeom>
          <a:solidFill>
            <a:srgbClr val="192F4C"/>
          </a:solidFill>
          <a:ln>
            <a:solidFill>
              <a:srgbClr val="32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09359" y="3566160"/>
            <a:ext cx="64008" cy="1645920"/>
          </a:xfrm>
          <a:prstGeom prst="rect">
            <a:avLst/>
          </a:prstGeom>
          <a:solidFill>
            <a:srgbClr val="61D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10527" y="3730752"/>
            <a:ext cx="4782312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800" b="1">
                <a:solidFill>
                  <a:srgbClr val="61DCAC"/>
                </a:solidFill>
                <a:latin typeface="Aptos"/>
              </a:defRPr>
            </a:pPr>
            <a:r>
              <a:t>N  |  Node.js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7" y="4224528"/>
            <a:ext cx="4782312" cy="8686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400" b="0">
                <a:solidFill>
                  <a:srgbClr val="F6F9FC"/>
                </a:solidFill>
                <a:latin typeface="Aptos"/>
              </a:defRPr>
            </a:pPr>
            <a:r>
              <a:t>JavaScript runtime that runs the backend server.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806440"/>
            <a:ext cx="1033272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defRPr sz="2000" b="1">
                <a:solidFill>
                  <a:srgbClr val="FFBE4B"/>
                </a:solidFill>
                <a:latin typeface="Aptos"/>
              </a:defRPr>
            </a:pPr>
            <a:r>
              <a:t>React UI  ⇄  Express/Node API  ⇄  MongoDB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4524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2700" b="1">
                <a:solidFill>
                  <a:srgbClr val="F6F9FC"/>
                </a:solidFill>
                <a:latin typeface="Aptos"/>
              </a:defRPr>
            </a:pPr>
            <a:r>
              <a:rPr dirty="0"/>
              <a:t>6.</a:t>
            </a:r>
            <a:r>
              <a:rPr lang="en-US" dirty="0"/>
              <a:t>q</a:t>
            </a:r>
            <a:r>
              <a:rPr dirty="0"/>
              <a:t> Main Features: CRUD and REST APIs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932688"/>
            <a:ext cx="960120" cy="50292"/>
          </a:xfrm>
          <a:prstGeom prst="rect">
            <a:avLst/>
          </a:prstGeom>
          <a:solidFill>
            <a:srgbClr val="28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4572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defRPr sz="1200" b="1">
                <a:solidFill>
                  <a:srgbClr val="FFBE4B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86868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900" b="0">
                <a:solidFill>
                  <a:srgbClr val="BBCADB"/>
                </a:solidFill>
                <a:latin typeface="Aptos"/>
              </a:defRPr>
            </a:pPr>
            <a:r>
              <a:t>TRAFFIC VIOLATION REPORTING SYSTEM  •  MERN STACK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325880"/>
            <a:ext cx="10561320" cy="841248"/>
          </a:xfrm>
          <a:prstGeom prst="roundRect">
            <a:avLst/>
          </a:prstGeom>
          <a:solidFill>
            <a:srgbClr val="192F4C"/>
          </a:solidFill>
          <a:ln>
            <a:solidFill>
              <a:srgbClr val="32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1325880"/>
            <a:ext cx="64008" cy="841248"/>
          </a:xfrm>
          <a:prstGeom prst="rect">
            <a:avLst/>
          </a:prstGeom>
          <a:solidFill>
            <a:srgbClr val="61D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1490472"/>
            <a:ext cx="10177272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800" b="1">
                <a:solidFill>
                  <a:srgbClr val="61DCAC"/>
                </a:solidFill>
                <a:latin typeface="Aptos"/>
              </a:defRPr>
            </a:pPr>
            <a:r>
              <a:t>CREATE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1984248"/>
            <a:ext cx="10177272" cy="640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400" b="0">
                <a:solidFill>
                  <a:srgbClr val="F6F9FC"/>
                </a:solidFill>
                <a:latin typeface="Aptos"/>
              </a:defRPr>
            </a:pPr>
            <a:r>
              <a:t>POST /api/violations   —   Submit a new violation report.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423160"/>
            <a:ext cx="10561320" cy="841248"/>
          </a:xfrm>
          <a:prstGeom prst="roundRect">
            <a:avLst/>
          </a:prstGeom>
          <a:solidFill>
            <a:srgbClr val="192F4C"/>
          </a:solidFill>
          <a:ln>
            <a:solidFill>
              <a:srgbClr val="32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" y="2423160"/>
            <a:ext cx="64008" cy="841248"/>
          </a:xfrm>
          <a:prstGeom prst="rect">
            <a:avLst/>
          </a:prstGeom>
          <a:solidFill>
            <a:srgbClr val="28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24128" y="2587752"/>
            <a:ext cx="10177272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800" b="1">
                <a:solidFill>
                  <a:srgbClr val="28CDBE"/>
                </a:solidFill>
                <a:latin typeface="Aptos"/>
              </a:defRPr>
            </a:pPr>
            <a:r>
              <a:t>READ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081528"/>
            <a:ext cx="10177272" cy="640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400" b="0">
                <a:solidFill>
                  <a:srgbClr val="F6F9FC"/>
                </a:solidFill>
                <a:latin typeface="Aptos"/>
              </a:defRPr>
            </a:pPr>
            <a:r>
              <a:t>GET /api/violations   —   View all reports or one report by ID.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520439"/>
            <a:ext cx="10561320" cy="841248"/>
          </a:xfrm>
          <a:prstGeom prst="roundRect">
            <a:avLst/>
          </a:prstGeom>
          <a:solidFill>
            <a:srgbClr val="192F4C"/>
          </a:solidFill>
          <a:ln>
            <a:solidFill>
              <a:srgbClr val="32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" y="3520439"/>
            <a:ext cx="64008" cy="841248"/>
          </a:xfrm>
          <a:prstGeom prst="rect">
            <a:avLst/>
          </a:prstGeom>
          <a:solidFill>
            <a:srgbClr val="FFB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24128" y="3685031"/>
            <a:ext cx="10177272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800" b="1">
                <a:solidFill>
                  <a:srgbClr val="FFBE4B"/>
                </a:solidFill>
                <a:latin typeface="Aptos"/>
              </a:defRPr>
            </a:pPr>
            <a:r>
              <a:t>UPDATE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4178807"/>
            <a:ext cx="10177272" cy="640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400" b="0">
                <a:solidFill>
                  <a:srgbClr val="F6F9FC"/>
                </a:solidFill>
                <a:latin typeface="Aptos"/>
              </a:defRPr>
            </a:pPr>
            <a:r>
              <a:t>PUT /api/violations/:id   —   Edit details or change report status.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617720"/>
            <a:ext cx="10561320" cy="841248"/>
          </a:xfrm>
          <a:prstGeom prst="roundRect">
            <a:avLst/>
          </a:prstGeom>
          <a:solidFill>
            <a:srgbClr val="192F4C"/>
          </a:solidFill>
          <a:ln>
            <a:solidFill>
              <a:srgbClr val="32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2960" y="4617720"/>
            <a:ext cx="64008" cy="841248"/>
          </a:xfrm>
          <a:prstGeom prst="rect">
            <a:avLst/>
          </a:prstGeom>
          <a:solidFill>
            <a:srgbClr val="FF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24128" y="4782312"/>
            <a:ext cx="10177272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800" b="1">
                <a:solidFill>
                  <a:srgbClr val="FF7D7D"/>
                </a:solidFill>
                <a:latin typeface="Aptos"/>
              </a:defRPr>
            </a:pPr>
            <a:r>
              <a:t>DELETE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5276088"/>
            <a:ext cx="10177272" cy="640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400" b="0">
                <a:solidFill>
                  <a:srgbClr val="F6F9FC"/>
                </a:solidFill>
                <a:latin typeface="Aptos"/>
              </a:defRPr>
            </a:pPr>
            <a:r>
              <a:t>DELETE /api/violations/:id   —   Remove a record when authorized.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897880"/>
            <a:ext cx="1033272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600" b="0">
                <a:solidFill>
                  <a:srgbClr val="BBCADB"/>
                </a:solidFill>
                <a:latin typeface="Aptos"/>
              </a:defRPr>
            </a:pPr>
            <a:r>
              <a:t>Validation and permissions help prevent incomplete or unauthorized changes.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6778"/>
            <a:ext cx="12191695" cy="6858000"/>
          </a:xfrm>
          <a:prstGeom prst="rect">
            <a:avLst/>
          </a:prstGeom>
          <a:solidFill>
            <a:srgbClr val="10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4524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2700" b="1">
                <a:solidFill>
                  <a:srgbClr val="F6F9FC"/>
                </a:solidFill>
                <a:latin typeface="Aptos"/>
              </a:defRPr>
            </a:pPr>
            <a:r>
              <a:rPr lang="en-US" dirty="0"/>
              <a:t>7.</a:t>
            </a:r>
            <a:r>
              <a:rPr dirty="0"/>
              <a:t> Conclusion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932688"/>
            <a:ext cx="960120" cy="50292"/>
          </a:xfrm>
          <a:prstGeom prst="rect">
            <a:avLst/>
          </a:prstGeom>
          <a:solidFill>
            <a:srgbClr val="28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4572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defRPr sz="1200" b="1">
                <a:solidFill>
                  <a:srgbClr val="FFBE4B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5074920" cy="3474720"/>
          </a:xfrm>
          <a:prstGeom prst="roundRect">
            <a:avLst/>
          </a:prstGeom>
          <a:solidFill>
            <a:srgbClr val="192F4C"/>
          </a:solidFill>
          <a:ln>
            <a:solidFill>
              <a:srgbClr val="32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417320"/>
            <a:ext cx="64008" cy="3474720"/>
          </a:xfrm>
          <a:prstGeom prst="rect">
            <a:avLst/>
          </a:prstGeom>
          <a:solidFill>
            <a:srgbClr val="28C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1581912"/>
            <a:ext cx="4690872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800" b="1">
                <a:solidFill>
                  <a:srgbClr val="28CDBE"/>
                </a:solidFill>
                <a:latin typeface="Aptos"/>
              </a:defRPr>
            </a:pPr>
            <a:r>
              <a:t>WHAT WE ACHIEVE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075688"/>
            <a:ext cx="4690872" cy="269747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400" b="0">
                <a:solidFill>
                  <a:srgbClr val="F6F9FC"/>
                </a:solidFill>
                <a:latin typeface="Aptos"/>
              </a:defRPr>
            </a:pPr>
            <a:r>
              <a:t>• A single place to record violations</a:t>
            </a:r>
            <a:br/>
            <a:r>
              <a:t>• Searchable and manageable reports</a:t>
            </a:r>
            <a:br/>
            <a:r>
              <a:t>• Working CRUD operations</a:t>
            </a:r>
            <a:br/>
            <a:r>
              <a:t>• React frontend connected to REST APIs</a:t>
            </a:r>
            <a:br/>
            <a:r>
              <a:t>• MongoDB data storage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5074920" cy="3474720"/>
          </a:xfrm>
          <a:prstGeom prst="roundRect">
            <a:avLst/>
          </a:prstGeom>
          <a:solidFill>
            <a:srgbClr val="192F4C"/>
          </a:solidFill>
          <a:ln>
            <a:solidFill>
              <a:srgbClr val="324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417320"/>
            <a:ext cx="64008" cy="3474720"/>
          </a:xfrm>
          <a:prstGeom prst="rect">
            <a:avLst/>
          </a:prstGeom>
          <a:solidFill>
            <a:srgbClr val="FFB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1581912"/>
            <a:ext cx="4690872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800" b="1">
                <a:solidFill>
                  <a:srgbClr val="FFBE4B"/>
                </a:solidFill>
                <a:latin typeface="Aptos"/>
              </a:defRPr>
            </a:pPr>
            <a:r>
              <a:t>FUTURE IMPROVEMENTS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075688"/>
            <a:ext cx="4690872" cy="269747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400" b="0">
                <a:solidFill>
                  <a:srgbClr val="F6F9FC"/>
                </a:solidFill>
                <a:latin typeface="Aptos"/>
              </a:defRPr>
            </a:pPr>
            <a:r>
              <a:t>• Map-based location selection</a:t>
            </a:r>
            <a:br/>
            <a:r>
              <a:t>• Email / SMS status notifications</a:t>
            </a:r>
            <a:br/>
            <a:r>
              <a:t>• Dashboard charts and filters</a:t>
            </a:r>
            <a:br/>
            <a:r>
              <a:t>• Better image storage and moderation</a:t>
            </a:r>
            <a:br/>
            <a:r>
              <a:t>• Integration with official systems, where permitted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280660"/>
            <a:ext cx="10332720" cy="4524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defRPr sz="2700" b="1">
                <a:solidFill>
                  <a:srgbClr val="F6F9FC"/>
                </a:solidFill>
                <a:latin typeface="Aptos"/>
              </a:defRPr>
            </a:pPr>
            <a:r>
              <a:rPr dirty="0"/>
              <a:t>Thank you!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08076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E69BE"/>
                </a:solidFill>
                <a:latin typeface="Aptos"/>
                <a:hlinkClick r:id="rId2"/>
              </a:rPr>
              <a:t>Project Link: https://citation-central-app.lovable.app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660</Words>
  <Application>Microsoft Office PowerPoint</Application>
  <PresentationFormat>Widescreen</PresentationFormat>
  <Paragraphs>94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Rasamalla charan teja</cp:lastModifiedBy>
  <cp:revision>4</cp:revision>
  <dcterms:created xsi:type="dcterms:W3CDTF">2013-01-27T09:14:16Z</dcterms:created>
  <dcterms:modified xsi:type="dcterms:W3CDTF">2026-10-10T08:22:27Z</dcterms:modified>
  <cp:category/>
</cp:coreProperties>
</file>